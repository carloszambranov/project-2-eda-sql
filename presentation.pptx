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41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" name="Shape 2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5" name="Shape 3"/>
          <p:cNvSpPr/>
          <p:nvPr/>
        </p:nvSpPr>
        <p:spPr>
          <a:xfrm>
            <a:off x="7680960" y="-274320"/>
            <a:ext cx="1828800" cy="1828800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E-Commerce Customer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9DD9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Analysis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02920" y="2999232"/>
            <a:ext cx="4114800" cy="36576"/>
          </a:xfrm>
          <a:prstGeom prst="rect">
            <a:avLst/>
          </a:prstGeom>
          <a:solidFill>
            <a:srgbClr val="0ACDFF"/>
          </a:solidFill>
          <a:ln w="12700">
            <a:solidFill>
              <a:srgbClr val="0ACD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2606040" cy="1280160"/>
          </a:xfrm>
          <a:prstGeom prst="rect">
            <a:avLst/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1" name="Text 9"/>
          <p:cNvSpPr/>
          <p:nvPr/>
        </p:nvSpPr>
        <p:spPr>
          <a:xfrm>
            <a:off x="502920" y="34564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C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50,000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2920" y="39502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3383280"/>
            <a:ext cx="2606040" cy="1280160"/>
          </a:xfrm>
          <a:prstGeom prst="rect">
            <a:avLst/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4" name="Text 12"/>
          <p:cNvSpPr/>
          <p:nvPr/>
        </p:nvSpPr>
        <p:spPr>
          <a:xfrm>
            <a:off x="3429000" y="34564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C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429000" y="39502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3383280"/>
            <a:ext cx="2606040" cy="1280160"/>
          </a:xfrm>
          <a:prstGeom prst="rect">
            <a:avLst/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7" name="Text 15"/>
          <p:cNvSpPr/>
          <p:nvPr/>
        </p:nvSpPr>
        <p:spPr>
          <a:xfrm>
            <a:off x="6355080" y="34564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C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0/1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55080" y="39502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Churned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costs e-commerce companies millions annually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churn patterns and risk factors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50,000 customers across multiple countries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features: demographics, behavioral, transactional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Churned (1 = left, 0 = active)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60720" y="1097280"/>
            <a:ext cx="29260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7" name="Shape 5"/>
          <p:cNvSpPr/>
          <p:nvPr/>
        </p:nvSpPr>
        <p:spPr>
          <a:xfrm>
            <a:off x="5760720" y="1097280"/>
            <a:ext cx="64008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8" name="Text 6"/>
          <p:cNvSpPr/>
          <p:nvPr/>
        </p:nvSpPr>
        <p:spPr>
          <a:xfrm>
            <a:off x="5943600" y="1188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50K Rows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2359152"/>
            <a:ext cx="29260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1" name="Shape 9"/>
          <p:cNvSpPr/>
          <p:nvPr/>
        </p:nvSpPr>
        <p:spPr>
          <a:xfrm>
            <a:off x="5760720" y="2359152"/>
            <a:ext cx="64008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5943600" y="24505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Multi-Country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862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3621024"/>
            <a:ext cx="29260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5" name="Shape 13"/>
          <p:cNvSpPr/>
          <p:nvPr/>
        </p:nvSpPr>
        <p:spPr>
          <a:xfrm>
            <a:off x="5760720" y="3621024"/>
            <a:ext cx="64008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6" name="Text 14"/>
          <p:cNvSpPr/>
          <p:nvPr/>
        </p:nvSpPr>
        <p:spPr>
          <a:xfrm>
            <a:off x="5943600" y="37124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Binary Target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41239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0 / 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9" name="Text 17"/>
          <p:cNvSpPr/>
          <p:nvPr/>
        </p:nvSpPr>
        <p:spPr>
          <a:xfrm>
            <a:off x="182880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Churn Analysis 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&amp; Assumptions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6" name="Shape 4"/>
          <p:cNvSpPr/>
          <p:nvPr/>
        </p:nvSpPr>
        <p:spPr>
          <a:xfrm>
            <a:off x="384048" y="10972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7" name="Text 5"/>
          <p:cNvSpPr/>
          <p:nvPr/>
        </p:nvSpPr>
        <p:spPr>
          <a:xfrm>
            <a:off x="384048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0607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335024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rows × 25 columns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810512"/>
            <a:ext cx="8503920" cy="685800"/>
          </a:xfrm>
          <a:prstGeom prst="rect">
            <a:avLst/>
          </a:prstGeom>
          <a:solidFill>
            <a:srgbClr val="E8F1F8"/>
          </a:solidFill>
          <a:ln w="12700">
            <a:solidFill>
              <a:srgbClr val="D8E8F4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1" name="Shape 9"/>
          <p:cNvSpPr/>
          <p:nvPr/>
        </p:nvSpPr>
        <p:spPr>
          <a:xfrm>
            <a:off x="384048" y="190195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384048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8653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139696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Social_Media_Engagement_Score and other numeric columns had nulls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615184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6" name="Shape 14"/>
          <p:cNvSpPr/>
          <p:nvPr/>
        </p:nvSpPr>
        <p:spPr>
          <a:xfrm>
            <a:off x="384048" y="2706624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7" name="Text 15"/>
          <p:cNvSpPr/>
          <p:nvPr/>
        </p:nvSpPr>
        <p:spPr>
          <a:xfrm>
            <a:off x="384048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670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Strategy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944368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nulls → median  |  Categorical nulls → mode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419856"/>
            <a:ext cx="8503920" cy="685800"/>
          </a:xfrm>
          <a:prstGeom prst="rect">
            <a:avLst/>
          </a:prstGeom>
          <a:solidFill>
            <a:srgbClr val="E8F1F8"/>
          </a:solidFill>
          <a:ln w="12700">
            <a:solidFill>
              <a:srgbClr val="D8E8F4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1" name="Shape 19"/>
          <p:cNvSpPr/>
          <p:nvPr/>
        </p:nvSpPr>
        <p:spPr>
          <a:xfrm>
            <a:off x="384048" y="351129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2" name="Text 20"/>
          <p:cNvSpPr/>
          <p:nvPr/>
        </p:nvSpPr>
        <p:spPr>
          <a:xfrm>
            <a:off x="384048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474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749040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all exact duplicate rows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4224528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26" name="Shape 24"/>
          <p:cNvSpPr/>
          <p:nvPr/>
        </p:nvSpPr>
        <p:spPr>
          <a:xfrm>
            <a:off x="384048" y="431596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7" name="Text 25"/>
          <p:cNvSpPr/>
          <p:nvPr/>
        </p:nvSpPr>
        <p:spPr>
          <a:xfrm>
            <a:off x="384048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2793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553712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removal — kept natural distribution for unbiased analysis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1" name="Text 29"/>
          <p:cNvSpPr/>
          <p:nvPr/>
        </p:nvSpPr>
        <p:spPr>
          <a:xfrm>
            <a:off x="182880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Churn Analysis 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Business Questions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6576"/>
          </a:xfrm>
          <a:prstGeom prst="rect">
            <a:avLst/>
          </a:prstGeom>
          <a:solidFill>
            <a:srgbClr val="0ACDFF"/>
          </a:solidFill>
          <a:ln w="12700">
            <a:solidFill>
              <a:srgbClr val="0ACD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Overall churn rate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Churn by country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Cart abandonment vs churn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Membership seniority vs churn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Order value: churned vs active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Customer service calls vs churn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Discount usage vs churn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Login frequency vs churn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Signup quarter vs churn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At-risk high-value customers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6576" cy="3474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9" name="Text 7"/>
          <p:cNvSpPr/>
          <p:nvPr/>
        </p:nvSpPr>
        <p:spPr>
          <a:xfrm>
            <a:off x="182880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Churn Analysis 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Q1: What is the Overall Churn Rate?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377440" cy="2834640"/>
          </a:xfrm>
          <a:prstGeom prst="rect">
            <a:avLst/>
          </a:prstGeom>
          <a:solidFill>
            <a:srgbClr val="21295C"/>
          </a:solidFill>
          <a:ln w="254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AC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960120"/>
            <a:ext cx="589788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9" name="Text 7"/>
          <p:cNvSpPr/>
          <p:nvPr/>
        </p:nvSpPr>
        <p:spPr>
          <a:xfrm>
            <a:off x="8321040" y="1005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C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08960" y="1115568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ROUND(SUM(Churned)*100.0/COUNT(*),2)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churn_rate_pct,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SUM(Churned)          AS total_churned,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COUNT(*)-SUM(Churned) AS total_active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547872"/>
            <a:ext cx="8503920" cy="749808"/>
          </a:xfrm>
          <a:prstGeom prst="rect">
            <a:avLst/>
          </a:prstGeom>
          <a:solidFill>
            <a:srgbClr val="EBF5FB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Shape 10"/>
          <p:cNvSpPr/>
          <p:nvPr/>
        </p:nvSpPr>
        <p:spPr>
          <a:xfrm>
            <a:off x="320040" y="3547872"/>
            <a:ext cx="64008" cy="749808"/>
          </a:xfrm>
          <a:prstGeom prst="rect">
            <a:avLst/>
          </a:prstGeom>
          <a:solidFill>
            <a:srgbClr val="0ACDFF"/>
          </a:solidFill>
          <a:ln w="12700">
            <a:solidFill>
              <a:srgbClr val="0ACD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3" name="Text 11"/>
          <p:cNvSpPr/>
          <p:nvPr/>
        </p:nvSpPr>
        <p:spPr>
          <a:xfrm>
            <a:off x="548640" y="363931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Balanced dataset — ideal for unbiased churn modeling and analysis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5" name="Text 13"/>
          <p:cNvSpPr/>
          <p:nvPr/>
        </p:nvSpPr>
        <p:spPr>
          <a:xfrm>
            <a:off x="182880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Churn Analysis 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Q2: Churn Rate by Country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8366760" y="9601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C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Country,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total,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ROUND(SUM(Churned)*100.0/COUNT(*),2)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churn_rate_pct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Country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churn_rate_pct DESC;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3182112"/>
            <a:ext cx="8503920" cy="749808"/>
          </a:xfrm>
          <a:prstGeom prst="rect">
            <a:avLst/>
          </a:prstGeom>
          <a:solidFill>
            <a:srgbClr val="EBF5FB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9" name="Shape 7"/>
          <p:cNvSpPr/>
          <p:nvPr/>
        </p:nvSpPr>
        <p:spPr>
          <a:xfrm>
            <a:off x="320040" y="3182112"/>
            <a:ext cx="64008" cy="749808"/>
          </a:xfrm>
          <a:prstGeom prst="rect">
            <a:avLst/>
          </a:prstGeom>
          <a:solidFill>
            <a:srgbClr val="0ACDFF"/>
          </a:solidFill>
          <a:ln w="12700">
            <a:solidFill>
              <a:srgbClr val="0ACD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rates vary across countries — some markets need more retention investment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182880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Churn Analysis 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Q3: Cart Abandonment vs Churn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8366760" y="9601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C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Cart_Abandonment_Rate &lt; 25 THEN 'Low'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Cart_Abandonment_Rate &lt; 50 THEN 'Medium'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Cart_Abandonment_Rate &lt; 75 THEN 'High'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'Very High'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abandonment_group,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ROUND(SUM(Churned)*100.0/COUNT(*),2) AS churn_rate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abandonment_group;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3182112"/>
            <a:ext cx="8503920" cy="749808"/>
          </a:xfrm>
          <a:prstGeom prst="rect">
            <a:avLst/>
          </a:prstGeom>
          <a:solidFill>
            <a:srgbClr val="EBF5FB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9" name="Shape 7"/>
          <p:cNvSpPr/>
          <p:nvPr/>
        </p:nvSpPr>
        <p:spPr>
          <a:xfrm>
            <a:off x="320040" y="3182112"/>
            <a:ext cx="64008" cy="749808"/>
          </a:xfrm>
          <a:prstGeom prst="rect">
            <a:avLst/>
          </a:prstGeom>
          <a:solidFill>
            <a:srgbClr val="0ACDFF"/>
          </a:solidFill>
          <a:ln w="12700">
            <a:solidFill>
              <a:srgbClr val="0ACD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cart abandonment (&gt;75%) strongly correlates with churn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182880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Churn Analysis 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Q6: Customer Service Calls vs Churn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8366760" y="9601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C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CAST(Customer_Service_Calls AS INT) AS calls,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ROUND(SUM(Churned)*100.0/COUNT(*),2)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churn_rate_pct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calls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calls;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3182112"/>
            <a:ext cx="8503920" cy="749808"/>
          </a:xfrm>
          <a:prstGeom prst="rect">
            <a:avLst/>
          </a:prstGeom>
          <a:solidFill>
            <a:srgbClr val="EBF5FB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9" name="Shape 7"/>
          <p:cNvSpPr/>
          <p:nvPr/>
        </p:nvSpPr>
        <p:spPr>
          <a:xfrm>
            <a:off x="320040" y="3182112"/>
            <a:ext cx="64008" cy="749808"/>
          </a:xfrm>
          <a:prstGeom prst="rect">
            <a:avLst/>
          </a:prstGeom>
          <a:solidFill>
            <a:srgbClr val="0ACDFF"/>
          </a:solidFill>
          <a:ln w="12700">
            <a:solidFill>
              <a:srgbClr val="0ACD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8+ service calls show dramatically higher churn — key early warning signal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182880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Churn Analysis 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Q10: High-Value Customers at Churn Risk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8366760" y="9601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C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 Country, Lifetime_Value,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Customer_Service_Calls,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Cart_Abandonment_Rate,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Days_Since_Last_Purchase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Churned =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Days_Since_Last_Purchase &gt; 60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Customer_Service_Calls &gt;= 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Cart_Abandonment_Rate &gt; 60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Lifetime_Value DESC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3182112"/>
            <a:ext cx="8503920" cy="749808"/>
          </a:xfrm>
          <a:prstGeom prst="rect">
            <a:avLst/>
          </a:prstGeom>
          <a:solidFill>
            <a:srgbClr val="EBF5FB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9" name="Shape 7"/>
          <p:cNvSpPr/>
          <p:nvPr/>
        </p:nvSpPr>
        <p:spPr>
          <a:xfrm>
            <a:off x="320040" y="3182112"/>
            <a:ext cx="64008" cy="749808"/>
          </a:xfrm>
          <a:prstGeom prst="rect">
            <a:avLst/>
          </a:prstGeom>
          <a:solidFill>
            <a:srgbClr val="0ACDFF"/>
          </a:solidFill>
          <a:ln w="12700">
            <a:solidFill>
              <a:srgbClr val="0ACD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Actionable list of high-LTV customers for priority retention campaigns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182880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Churn Analysis 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03860" y="3246120"/>
            <a:ext cx="2743200" cy="27432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 &amp; Recommendations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840480" cy="36576"/>
          </a:xfrm>
          <a:prstGeom prst="rect">
            <a:avLst/>
          </a:prstGeom>
          <a:solidFill>
            <a:srgbClr val="0ACDFF"/>
          </a:solidFill>
          <a:ln w="12700">
            <a:solidFill>
              <a:srgbClr val="0ACD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3931920" cy="3566160"/>
          </a:xfrm>
          <a:prstGeom prst="rect">
            <a:avLst/>
          </a:prstGeom>
          <a:solidFill>
            <a:srgbClr val="065A82"/>
          </a:solidFill>
          <a:ln w="25400">
            <a:solidFill>
              <a:srgbClr val="E848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3931920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Risk Signals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cart abandonment (&gt;75%)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customer service calls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login frequency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days since last purchase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206240" cy="3566160"/>
          </a:xfrm>
          <a:prstGeom prst="rect">
            <a:avLst/>
          </a:prstGeom>
          <a:solidFill>
            <a:srgbClr val="065A82"/>
          </a:solidFill>
          <a:ln w="25400">
            <a:solidFill>
              <a:srgbClr val="3BB2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4206240" cy="457200"/>
          </a:xfrm>
          <a:prstGeom prst="rect">
            <a:avLst/>
          </a:prstGeom>
          <a:solidFill>
            <a:srgbClr val="3BB273"/>
          </a:solidFill>
          <a:ln w="12700">
            <a:solidFill>
              <a:srgbClr val="3BB27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4663440" y="10789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Recommendations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160020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campaigns for inactive high-LTV customers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checkout UX to reduce cart abandonment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customers with 5+ service calls for proactive outreach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retention efforts on Q1 signups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5" name="Text 13"/>
          <p:cNvSpPr/>
          <p:nvPr/>
        </p:nvSpPr>
        <p:spPr>
          <a:xfrm>
            <a:off x="182880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Churn Analysis 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Stack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3200400" cy="36576"/>
          </a:xfrm>
          <a:prstGeom prst="rect">
            <a:avLst/>
          </a:prstGeom>
          <a:solidFill>
            <a:srgbClr val="0ACDFF"/>
          </a:solidFill>
          <a:ln w="12700">
            <a:solidFill>
              <a:srgbClr val="0ACD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5" name="Shape 3"/>
          <p:cNvSpPr/>
          <p:nvPr/>
        </p:nvSpPr>
        <p:spPr>
          <a:xfrm>
            <a:off x="320040" y="1956816"/>
            <a:ext cx="2651760" cy="1508760"/>
          </a:xfrm>
          <a:prstGeom prst="rect">
            <a:avLst/>
          </a:prstGeom>
          <a:solidFill>
            <a:srgbClr val="21295C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6" name="Shape 4"/>
          <p:cNvSpPr/>
          <p:nvPr/>
        </p:nvSpPr>
        <p:spPr>
          <a:xfrm>
            <a:off x="320040" y="1888236"/>
            <a:ext cx="2651760" cy="64008"/>
          </a:xfrm>
          <a:prstGeom prst="rect">
            <a:avLst/>
          </a:prstGeom>
          <a:solidFill>
            <a:srgbClr val="0ACDFF"/>
          </a:solidFill>
          <a:ln w="12700">
            <a:solidFill>
              <a:srgbClr val="0ACD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6014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matplotlib, seaborn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924812"/>
            <a:ext cx="2651760" cy="1508760"/>
          </a:xfrm>
          <a:prstGeom prst="rect">
            <a:avLst/>
          </a:prstGeom>
          <a:solidFill>
            <a:srgbClr val="21295C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0" name="Shape 8"/>
          <p:cNvSpPr/>
          <p:nvPr/>
        </p:nvSpPr>
        <p:spPr>
          <a:xfrm>
            <a:off x="3154680" y="1842516"/>
            <a:ext cx="2651760" cy="64008"/>
          </a:xfrm>
          <a:prstGeom prst="rect">
            <a:avLst/>
          </a:prstGeom>
          <a:solidFill>
            <a:srgbClr val="0ACDFF"/>
          </a:solidFill>
          <a:ln w="12700">
            <a:solidFill>
              <a:srgbClr val="0ACD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1" name="Text 9"/>
          <p:cNvSpPr/>
          <p:nvPr/>
        </p:nvSpPr>
        <p:spPr>
          <a:xfrm>
            <a:off x="3291840" y="23256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25679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for SQL queries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924812"/>
            <a:ext cx="2651760" cy="1508760"/>
          </a:xfrm>
          <a:prstGeom prst="rect">
            <a:avLst/>
          </a:prstGeom>
          <a:solidFill>
            <a:srgbClr val="21295C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4" name="Shape 12"/>
          <p:cNvSpPr/>
          <p:nvPr/>
        </p:nvSpPr>
        <p:spPr>
          <a:xfrm>
            <a:off x="6080760" y="1856232"/>
            <a:ext cx="2651760" cy="64008"/>
          </a:xfrm>
          <a:prstGeom prst="rect">
            <a:avLst/>
          </a:prstGeom>
          <a:solidFill>
            <a:srgbClr val="0ACDFF"/>
          </a:solidFill>
          <a:ln w="12700">
            <a:solidFill>
              <a:srgbClr val="0ACD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5" name="Text 13"/>
          <p:cNvSpPr/>
          <p:nvPr/>
        </p:nvSpPr>
        <p:spPr>
          <a:xfrm>
            <a:off x="6263640" y="22311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</a:t>
            </a: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Notebook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26167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workflow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US" dirty="0"/>
          </a:p>
        </p:txBody>
      </p:sp>
      <p:sp>
        <p:nvSpPr>
          <p:cNvPr id="30" name="Text 28"/>
          <p:cNvSpPr/>
          <p:nvPr/>
        </p:nvSpPr>
        <p:spPr>
          <a:xfrm>
            <a:off x="182880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Churn Analysis 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702</Words>
  <Application>Microsoft Macintosh PowerPoint</Application>
  <PresentationFormat>Presentación en pantalla (16:9)</PresentationFormat>
  <Paragraphs>146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Customer Churn Analysis</dc:title>
  <dc:subject>PptxGenJS Presentation</dc:subject>
  <dc:creator>Carlos Zambrano</dc:creator>
  <cp:lastModifiedBy>EDISON STEEVEN VERA HERRERA</cp:lastModifiedBy>
  <cp:revision>3</cp:revision>
  <dcterms:created xsi:type="dcterms:W3CDTF">2026-04-12T21:43:15Z</dcterms:created>
  <dcterms:modified xsi:type="dcterms:W3CDTF">2026-04-13T11:39:58Z</dcterms:modified>
</cp:coreProperties>
</file>