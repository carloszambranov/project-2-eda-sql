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-731520"/>
            <a:ext cx="2926080" cy="292608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-274320"/>
            <a:ext cx="1828800" cy="1828800"/>
          </a:xfrm>
          <a:prstGeom prst="ellipse">
            <a:avLst/>
          </a:prstGeom>
          <a:solidFill>
            <a:srgbClr val="1C7293">
              <a:alpha val="50000"/>
            </a:srgbClr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686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E-Commerce Customer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9DD9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Churn Analysis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SQL Project  |  Ironhack  |  2025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11480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383280"/>
            <a:ext cx="2606040" cy="1280160"/>
          </a:xfrm>
          <a:prstGeom prst="rect">
            <a:avLst/>
          </a:prstGeom>
          <a:solidFill>
            <a:srgbClr val="065A82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34564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2920" y="39502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29000" y="3383280"/>
            <a:ext cx="2606040" cy="1280160"/>
          </a:xfrm>
          <a:prstGeom prst="rect">
            <a:avLst/>
          </a:prstGeom>
          <a:solidFill>
            <a:srgbClr val="065A82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29000" y="34564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429000" y="39502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3383280"/>
            <a:ext cx="2606040" cy="1280160"/>
          </a:xfrm>
          <a:prstGeom prst="rect">
            <a:avLst/>
          </a:prstGeom>
          <a:solidFill>
            <a:srgbClr val="065A82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5080" y="34564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0/1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39502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Churned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Problem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50292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costs e-commerce companies millions annually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Identify churn patterns and risk factors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50,000 customers across multiple countries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features: demographics, behavioral, transactional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variable: Churned (1 = left, 0 = active)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760720" y="1097280"/>
            <a:ext cx="29260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760720" y="1097280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1188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50K Rows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0" y="1600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dataset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2359152"/>
            <a:ext cx="29260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760720" y="2359152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24505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🌍  Multi-Country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0" y="2862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markets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60720" y="3621024"/>
            <a:ext cx="29260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60720" y="3621024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37124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Binary Target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0" y="41239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0 / 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Cleaning &amp; Assumptions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8503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109728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0607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Shape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335024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rows × 25 columns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810512"/>
            <a:ext cx="8503920" cy="685800"/>
          </a:xfrm>
          <a:prstGeom prst="rect">
            <a:avLst/>
          </a:prstGeom>
          <a:solidFill>
            <a:srgbClr val="E8F1F8"/>
          </a:solidFill>
          <a:ln w="12700">
            <a:solidFill>
              <a:srgbClr val="D8E8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" y="1901952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901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6537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 Values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39696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Social_Media_Engagement_Score and other numeric columns had nulls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15184"/>
            <a:ext cx="8503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" y="2706624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706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🔧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670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Strategy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944368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nulls → median  |  Categorical nulls → mode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3419856"/>
            <a:ext cx="8503920" cy="685800"/>
          </a:xfrm>
          <a:prstGeom prst="rect">
            <a:avLst/>
          </a:prstGeom>
          <a:solidFill>
            <a:srgbClr val="E8F1F8"/>
          </a:solidFill>
          <a:ln w="12700">
            <a:solidFill>
              <a:srgbClr val="D8E8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3511296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5840" y="34747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Duplicates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749040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all exact duplicate rows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4224528"/>
            <a:ext cx="8503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84048" y="4315968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2793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Outliers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4553712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removal — kept natural distribution for unbiased analysis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>
                <a:alpha val="3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Business Questions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9728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Overall churn rate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Churn by country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Cart abandonment vs churn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Membership seniority vs churn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Order value: churned vs active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Customer service calls vs churn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Discount usage vs churn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Login frequency vs churn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Signup quarter vs churn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At-risk high-value customers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36576" cy="3474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Q1: What is the Overall Churn Rate?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377440" cy="2834640"/>
          </a:xfrm>
          <a:prstGeom prst="rect">
            <a:avLst/>
          </a:prstGeom>
          <a:solidFill>
            <a:srgbClr val="21295C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234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~50%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960120"/>
            <a:ext cx="5897880" cy="228600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321040" y="100584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08960" y="1115568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churn_rate_pct,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SUM(Churned)          AS total_churned,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COUNT(*)-SUM(Churned) AS total_active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customers;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354787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354787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393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Balanced dataset — ideal for unbiased churn modeling and analysis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Q2: Churn Rate by Country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Country,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AS total,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churn_rate_pct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Country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churn_rate_pct DESC;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Churn rates vary across countries — some markets need more retention investment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Q3: Cart Abandonment vs Churn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Cart_Abandonment_Rate &lt; 25 THEN 'Low'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Cart_Abandonment_Rate &lt; 50 THEN 'Medium'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Cart_Abandonment_Rate &lt; 75 THEN 'High'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'Very High'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AS abandonment_group,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 AS churn_rate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abandonment_group;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Very high cart abandonment (&gt;75%) strongly correlates with churn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Q6: Customer Service Calls vs Churn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CAST(Customer_Service_Calls AS INT) AS calls,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churn_rate_pct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calls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calls;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Customers with 8+ service calls show dramatically higher churn — key early warning signal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Q10: High-Value Customers at Churn Risk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customer_id, Country, Lifetime_Value,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Customer_Service_Calls,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Cart_Abandonment_Rate,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Days_Since_Last_Purchase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Churned =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Days_Since_Last_Purchase &gt;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Customer_Service_Calls &gt;=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Cart_Abandonment_Rate &gt;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Lifetime_Value DESC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10;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Actionable list of high-LTV customers for priority retention campaigns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1C7293">
              <a:alpha val="35000"/>
            </a:srgbClr>
          </a:solidFill>
          <a:ln w="12700">
            <a:solidFill>
              <a:srgbClr val="1C7293">
                <a:alpha val="3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 &amp; Recommendations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384048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51560"/>
            <a:ext cx="3931920" cy="3566160"/>
          </a:xfrm>
          <a:prstGeom prst="rect">
            <a:avLst/>
          </a:prstGeom>
          <a:solidFill>
            <a:srgbClr val="065A82"/>
          </a:solidFill>
          <a:ln w="25400">
            <a:solidFill>
              <a:srgbClr val="E848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51560"/>
            <a:ext cx="3931920" cy="457200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789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 Risk Signals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cart abandonment (&gt;75%)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customer service calls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login frequency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days since last purchase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051560"/>
            <a:ext cx="4206240" cy="3566160"/>
          </a:xfrm>
          <a:prstGeom prst="rect">
            <a:avLst/>
          </a:prstGeom>
          <a:solidFill>
            <a:srgbClr val="065A82"/>
          </a:solidFill>
          <a:ln w="25400">
            <a:solidFill>
              <a:srgbClr val="3BB27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051560"/>
            <a:ext cx="4206240" cy="457200"/>
          </a:xfrm>
          <a:prstGeom prst="rect">
            <a:avLst/>
          </a:prstGeom>
          <a:solidFill>
            <a:srgbClr val="3BB273"/>
          </a:solidFill>
          <a:ln w="12700">
            <a:solidFill>
              <a:srgbClr val="3BB2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07899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Recommendations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09160" y="160020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Re-engagement campaigns for inactive high-LTV customers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checkout UX to reduce cart abandonment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customers with 5+ service calls for proactive outreach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retention efforts on Q1 signups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200400"/>
            <a:ext cx="3200400" cy="3200400"/>
          </a:xfrm>
          <a:prstGeom prst="ellipse">
            <a:avLst/>
          </a:prstGeom>
          <a:solidFill>
            <a:srgbClr val="1C7293">
              <a:alpha val="35000"/>
            </a:srgbClr>
          </a:solidFill>
          <a:ln w="12700">
            <a:solidFill>
              <a:srgbClr val="1C7293">
                <a:alpha val="3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Stack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320040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14300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🐍  Python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9768" y="1645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matplotlib, seaborn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114300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🗄  SQLite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10128" y="1645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DB for SQL queries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1005840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0488" y="114300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📓  Jupyter Notebook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90488" y="1645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 workflow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743200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88036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 Dataset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" y="33832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50,000 rows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743200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0128" y="288036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📁  Deliverables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310128" y="33832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analysis.ipynb + queries.sql + presentation.pptx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2743200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0488" y="288036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🎓  Ironhack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90488" y="33832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SQL Project 2025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 |  Ironhack 2025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Customer Churn Analysis</dc:title>
  <dc:subject>PptxGenJS Presentation</dc:subject>
  <dc:creator>Carlos Zambrano</dc:creator>
  <cp:lastModifiedBy>Carlos Zambrano</cp:lastModifiedBy>
  <cp:revision>1</cp:revision>
  <dcterms:created xsi:type="dcterms:W3CDTF">2026-04-12T21:43:15Z</dcterms:created>
  <dcterms:modified xsi:type="dcterms:W3CDTF">2026-04-12T21:43:15Z</dcterms:modified>
</cp:coreProperties>
</file>