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534"/>
    <p:restoredTop sz="94610"/>
  </p:normalViewPr>
  <p:slideViewPr>
    <p:cSldViewPr snapToGrid="0" snapToObjects="1">
      <p:cViewPr varScale="1">
        <p:scale>
          <a:sx n="168" d="100"/>
          <a:sy n="168" d="100"/>
        </p:scale>
        <p:origin x="23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184131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s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s-US"/>
          </a:p>
        </p:txBody>
      </p:sp>
      <p:sp>
        <p:nvSpPr>
          <p:cNvPr id="4" name="Shape 2"/>
          <p:cNvSpPr/>
          <p:nvPr/>
        </p:nvSpPr>
        <p:spPr>
          <a:xfrm>
            <a:off x="7132320" y="-731520"/>
            <a:ext cx="2926080" cy="2926080"/>
          </a:xfrm>
          <a:prstGeom prst="ellipse">
            <a:avLst/>
          </a:prstGeom>
          <a:solidFill>
            <a:srgbClr val="065A82">
              <a:alpha val="40000"/>
            </a:srgbClr>
          </a:solidFill>
          <a:ln w="12700">
            <a:solidFill>
              <a:srgbClr val="065A82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s-US"/>
          </a:p>
        </p:txBody>
      </p:sp>
      <p:sp>
        <p:nvSpPr>
          <p:cNvPr id="5" name="Shape 3"/>
          <p:cNvSpPr/>
          <p:nvPr/>
        </p:nvSpPr>
        <p:spPr>
          <a:xfrm>
            <a:off x="7680960" y="-274320"/>
            <a:ext cx="1828800" cy="1828800"/>
          </a:xfrm>
          <a:prstGeom prst="ellipse">
            <a:avLst/>
          </a:prstGeom>
          <a:solidFill>
            <a:srgbClr val="1C7293">
              <a:alpha val="50000"/>
            </a:srgbClr>
          </a:solidFill>
          <a:ln w="12700">
            <a:solidFill>
              <a:srgbClr val="1C7293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s-US"/>
          </a:p>
        </p:txBody>
      </p:sp>
      <p:sp>
        <p:nvSpPr>
          <p:cNvPr id="6" name="Text 4"/>
          <p:cNvSpPr/>
          <p:nvPr/>
        </p:nvSpPr>
        <p:spPr>
          <a:xfrm>
            <a:off x="502920" y="868680"/>
            <a:ext cx="7772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E-Commerce Customer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502920" y="1600200"/>
            <a:ext cx="7772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400" b="1" dirty="0">
                <a:solidFill>
                  <a:srgbClr val="9DD9F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Churn Analysis</a:t>
            </a:r>
            <a:endParaRPr lang="en-US" sz="4400" dirty="0"/>
          </a:p>
        </p:txBody>
      </p:sp>
      <p:sp>
        <p:nvSpPr>
          <p:cNvPr id="9" name="Shape 7"/>
          <p:cNvSpPr/>
          <p:nvPr/>
        </p:nvSpPr>
        <p:spPr>
          <a:xfrm>
            <a:off x="502920" y="2999232"/>
            <a:ext cx="4114800" cy="36576"/>
          </a:xfrm>
          <a:prstGeom prst="rect">
            <a:avLst/>
          </a:prstGeom>
          <a:solidFill>
            <a:srgbClr val="0ACDFF"/>
          </a:solidFill>
          <a:ln w="12700">
            <a:solidFill>
              <a:srgbClr val="0ACDFF"/>
            </a:solidFill>
            <a:prstDash val="solid"/>
          </a:ln>
        </p:spPr>
        <p:txBody>
          <a:bodyPr/>
          <a:lstStyle/>
          <a:p>
            <a:endParaRPr lang="es-US"/>
          </a:p>
        </p:txBody>
      </p:sp>
      <p:sp>
        <p:nvSpPr>
          <p:cNvPr id="10" name="Shape 8"/>
          <p:cNvSpPr/>
          <p:nvPr/>
        </p:nvSpPr>
        <p:spPr>
          <a:xfrm>
            <a:off x="502920" y="3383280"/>
            <a:ext cx="2606040" cy="1280160"/>
          </a:xfrm>
          <a:prstGeom prst="rect">
            <a:avLst/>
          </a:prstGeom>
          <a:solidFill>
            <a:srgbClr val="065A82"/>
          </a:solidFill>
          <a:ln w="19050">
            <a:solidFill>
              <a:srgbClr val="1C7293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US"/>
          </a:p>
        </p:txBody>
      </p:sp>
      <p:sp>
        <p:nvSpPr>
          <p:cNvPr id="11" name="Text 9"/>
          <p:cNvSpPr/>
          <p:nvPr/>
        </p:nvSpPr>
        <p:spPr>
          <a:xfrm>
            <a:off x="502920" y="3456432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0ACD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50,000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502920" y="3950208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DD9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3429000" y="3383280"/>
            <a:ext cx="2606040" cy="1280160"/>
          </a:xfrm>
          <a:prstGeom prst="rect">
            <a:avLst/>
          </a:prstGeom>
          <a:solidFill>
            <a:srgbClr val="065A82"/>
          </a:solidFill>
          <a:ln w="19050">
            <a:solidFill>
              <a:srgbClr val="1C7293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US"/>
          </a:p>
        </p:txBody>
      </p:sp>
      <p:sp>
        <p:nvSpPr>
          <p:cNvPr id="14" name="Text 12"/>
          <p:cNvSpPr/>
          <p:nvPr/>
        </p:nvSpPr>
        <p:spPr>
          <a:xfrm>
            <a:off x="3429000" y="3456432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0ACD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25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3429000" y="3950208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DD9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355080" y="3383280"/>
            <a:ext cx="2606040" cy="1280160"/>
          </a:xfrm>
          <a:prstGeom prst="rect">
            <a:avLst/>
          </a:prstGeom>
          <a:solidFill>
            <a:srgbClr val="065A82"/>
          </a:solidFill>
          <a:ln w="19050">
            <a:solidFill>
              <a:srgbClr val="1C7293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US"/>
          </a:p>
        </p:txBody>
      </p:sp>
      <p:sp>
        <p:nvSpPr>
          <p:cNvPr id="17" name="Text 15"/>
          <p:cNvSpPr/>
          <p:nvPr/>
        </p:nvSpPr>
        <p:spPr>
          <a:xfrm>
            <a:off x="6355080" y="3456432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0ACD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0/1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6355080" y="3950208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DD9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Churned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0" y="4983480"/>
            <a:ext cx="9144000" cy="16002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s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s-US"/>
          </a:p>
        </p:txBody>
      </p:sp>
      <p:sp>
        <p:nvSpPr>
          <p:cNvPr id="3" name="Shape 1"/>
          <p:cNvSpPr/>
          <p:nvPr/>
        </p:nvSpPr>
        <p:spPr>
          <a:xfrm>
            <a:off x="73152" y="0"/>
            <a:ext cx="9070848" cy="9144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s-US"/>
          </a:p>
        </p:txBody>
      </p:sp>
      <p:sp>
        <p:nvSpPr>
          <p:cNvPr id="4" name="Text 2"/>
          <p:cNvSpPr/>
          <p:nvPr/>
        </p:nvSpPr>
        <p:spPr>
          <a:xfrm>
            <a:off x="320040" y="914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Business Problem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50292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churn costs e-commerce companies millions annually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Identify churn patterns and risk factors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Dataset: 50,000 customers across multiple countries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features: demographics, behavioral, transactional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variable: Churned (1 = left, 0 = active)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760720" y="1097280"/>
            <a:ext cx="2926080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US"/>
          </a:p>
        </p:txBody>
      </p:sp>
      <p:sp>
        <p:nvSpPr>
          <p:cNvPr id="7" name="Shape 5"/>
          <p:cNvSpPr/>
          <p:nvPr/>
        </p:nvSpPr>
        <p:spPr>
          <a:xfrm>
            <a:off x="5760720" y="1097280"/>
            <a:ext cx="64008" cy="105156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s-US"/>
          </a:p>
        </p:txBody>
      </p:sp>
      <p:sp>
        <p:nvSpPr>
          <p:cNvPr id="8" name="Text 6"/>
          <p:cNvSpPr/>
          <p:nvPr/>
        </p:nvSpPr>
        <p:spPr>
          <a:xfrm>
            <a:off x="5943600" y="1188720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50K Rows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943600" y="160020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3A4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Real-world dataset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760720" y="2359152"/>
            <a:ext cx="2926080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US"/>
          </a:p>
        </p:txBody>
      </p:sp>
      <p:sp>
        <p:nvSpPr>
          <p:cNvPr id="11" name="Shape 9"/>
          <p:cNvSpPr/>
          <p:nvPr/>
        </p:nvSpPr>
        <p:spPr>
          <a:xfrm>
            <a:off x="5760720" y="2359152"/>
            <a:ext cx="64008" cy="105156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s-US"/>
          </a:p>
        </p:txBody>
      </p:sp>
      <p:sp>
        <p:nvSpPr>
          <p:cNvPr id="12" name="Text 10"/>
          <p:cNvSpPr/>
          <p:nvPr/>
        </p:nvSpPr>
        <p:spPr>
          <a:xfrm>
            <a:off x="5943600" y="2450592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Multi-Country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943600" y="2862072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3A4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markets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760720" y="3621024"/>
            <a:ext cx="2926080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US"/>
          </a:p>
        </p:txBody>
      </p:sp>
      <p:sp>
        <p:nvSpPr>
          <p:cNvPr id="15" name="Shape 13"/>
          <p:cNvSpPr/>
          <p:nvPr/>
        </p:nvSpPr>
        <p:spPr>
          <a:xfrm>
            <a:off x="5760720" y="3621024"/>
            <a:ext cx="64008" cy="105156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s-US"/>
          </a:p>
        </p:txBody>
      </p:sp>
      <p:sp>
        <p:nvSpPr>
          <p:cNvPr id="16" name="Text 14"/>
          <p:cNvSpPr/>
          <p:nvPr/>
        </p:nvSpPr>
        <p:spPr>
          <a:xfrm>
            <a:off x="5943600" y="3712464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Binary Target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943600" y="4123944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3A4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Churned 0 / 1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0" y="4983480"/>
            <a:ext cx="9144000" cy="16002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s-US"/>
          </a:p>
        </p:txBody>
      </p:sp>
      <p:sp>
        <p:nvSpPr>
          <p:cNvPr id="19" name="Text 17"/>
          <p:cNvSpPr/>
          <p:nvPr/>
        </p:nvSpPr>
        <p:spPr>
          <a:xfrm>
            <a:off x="182880" y="4974336"/>
            <a:ext cx="8778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900" dirty="0">
                <a:solidFill>
                  <a:srgbClr val="9DD9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E-Commerce Churn Analysis 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s-US"/>
          </a:p>
        </p:txBody>
      </p:sp>
      <p:sp>
        <p:nvSpPr>
          <p:cNvPr id="3" name="Shape 1"/>
          <p:cNvSpPr/>
          <p:nvPr/>
        </p:nvSpPr>
        <p:spPr>
          <a:xfrm>
            <a:off x="73152" y="0"/>
            <a:ext cx="9070848" cy="9144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s-US"/>
          </a:p>
        </p:txBody>
      </p:sp>
      <p:sp>
        <p:nvSpPr>
          <p:cNvPr id="4" name="Text 2"/>
          <p:cNvSpPr/>
          <p:nvPr/>
        </p:nvSpPr>
        <p:spPr>
          <a:xfrm>
            <a:off x="320040" y="91440"/>
            <a:ext cx="8412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 Cleaning &amp; Assumptions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320040" y="1005840"/>
            <a:ext cx="85039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8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US"/>
          </a:p>
        </p:txBody>
      </p:sp>
      <p:sp>
        <p:nvSpPr>
          <p:cNvPr id="6" name="Shape 4"/>
          <p:cNvSpPr/>
          <p:nvPr/>
        </p:nvSpPr>
        <p:spPr>
          <a:xfrm>
            <a:off x="384048" y="1097280"/>
            <a:ext cx="502920" cy="50292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s-US"/>
          </a:p>
        </p:txBody>
      </p:sp>
      <p:sp>
        <p:nvSpPr>
          <p:cNvPr id="7" name="Text 5"/>
          <p:cNvSpPr/>
          <p:nvPr/>
        </p:nvSpPr>
        <p:spPr>
          <a:xfrm>
            <a:off x="384048" y="1097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📐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05840" y="1060704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Shape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1335024"/>
            <a:ext cx="7635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1A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50,000 rows × 25 columns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20040" y="1810512"/>
            <a:ext cx="8503920" cy="685800"/>
          </a:xfrm>
          <a:prstGeom prst="rect">
            <a:avLst/>
          </a:prstGeom>
          <a:solidFill>
            <a:srgbClr val="E8F1F8"/>
          </a:solidFill>
          <a:ln w="12700">
            <a:solidFill>
              <a:srgbClr val="D8E8F4"/>
            </a:solidFill>
            <a:prstDash val="solid"/>
          </a:ln>
        </p:spPr>
        <p:txBody>
          <a:bodyPr/>
          <a:lstStyle/>
          <a:p>
            <a:endParaRPr lang="es-US"/>
          </a:p>
        </p:txBody>
      </p:sp>
      <p:sp>
        <p:nvSpPr>
          <p:cNvPr id="11" name="Shape 9"/>
          <p:cNvSpPr/>
          <p:nvPr/>
        </p:nvSpPr>
        <p:spPr>
          <a:xfrm>
            <a:off x="384048" y="1901952"/>
            <a:ext cx="502920" cy="50292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s-US"/>
          </a:p>
        </p:txBody>
      </p:sp>
      <p:sp>
        <p:nvSpPr>
          <p:cNvPr id="12" name="Text 10"/>
          <p:cNvSpPr/>
          <p:nvPr/>
        </p:nvSpPr>
        <p:spPr>
          <a:xfrm>
            <a:off x="384048" y="19019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🔍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05840" y="1865376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Missing Values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05840" y="2139696"/>
            <a:ext cx="7635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1A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Social_Media_Engagement_Score and other numeric columns had nulls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20040" y="2615184"/>
            <a:ext cx="85039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8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US"/>
          </a:p>
        </p:txBody>
      </p:sp>
      <p:sp>
        <p:nvSpPr>
          <p:cNvPr id="16" name="Shape 14"/>
          <p:cNvSpPr/>
          <p:nvPr/>
        </p:nvSpPr>
        <p:spPr>
          <a:xfrm>
            <a:off x="384048" y="2706624"/>
            <a:ext cx="502920" cy="50292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s-US"/>
          </a:p>
        </p:txBody>
      </p:sp>
      <p:sp>
        <p:nvSpPr>
          <p:cNvPr id="17" name="Text 15"/>
          <p:cNvSpPr/>
          <p:nvPr/>
        </p:nvSpPr>
        <p:spPr>
          <a:xfrm>
            <a:off x="384048" y="270662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🔧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005840" y="267004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 Strategy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05840" y="2944368"/>
            <a:ext cx="7635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1A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Numeric nulls → median  |  Categorical nulls → mode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20040" y="3419856"/>
            <a:ext cx="8503920" cy="685800"/>
          </a:xfrm>
          <a:prstGeom prst="rect">
            <a:avLst/>
          </a:prstGeom>
          <a:solidFill>
            <a:srgbClr val="E8F1F8"/>
          </a:solidFill>
          <a:ln w="12700">
            <a:solidFill>
              <a:srgbClr val="D8E8F4"/>
            </a:solidFill>
            <a:prstDash val="solid"/>
          </a:ln>
        </p:spPr>
        <p:txBody>
          <a:bodyPr/>
          <a:lstStyle/>
          <a:p>
            <a:endParaRPr lang="es-US"/>
          </a:p>
        </p:txBody>
      </p:sp>
      <p:sp>
        <p:nvSpPr>
          <p:cNvPr id="21" name="Shape 19"/>
          <p:cNvSpPr/>
          <p:nvPr/>
        </p:nvSpPr>
        <p:spPr>
          <a:xfrm>
            <a:off x="384048" y="3511296"/>
            <a:ext cx="502920" cy="50292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s-US"/>
          </a:p>
        </p:txBody>
      </p:sp>
      <p:sp>
        <p:nvSpPr>
          <p:cNvPr id="22" name="Text 20"/>
          <p:cNvSpPr/>
          <p:nvPr/>
        </p:nvSpPr>
        <p:spPr>
          <a:xfrm>
            <a:off x="384048" y="351129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🗑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005840" y="347472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Duplicates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005840" y="3749040"/>
            <a:ext cx="7635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1A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Removed all exact duplicate rows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0040" y="4224528"/>
            <a:ext cx="85039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8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US"/>
          </a:p>
        </p:txBody>
      </p:sp>
      <p:sp>
        <p:nvSpPr>
          <p:cNvPr id="26" name="Shape 24"/>
          <p:cNvSpPr/>
          <p:nvPr/>
        </p:nvSpPr>
        <p:spPr>
          <a:xfrm>
            <a:off x="384048" y="4315968"/>
            <a:ext cx="502920" cy="50292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s-US"/>
          </a:p>
        </p:txBody>
      </p:sp>
      <p:sp>
        <p:nvSpPr>
          <p:cNvPr id="27" name="Text 25"/>
          <p:cNvSpPr/>
          <p:nvPr/>
        </p:nvSpPr>
        <p:spPr>
          <a:xfrm>
            <a:off x="384048" y="43159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📈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1005840" y="42793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Outliers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005840" y="4553712"/>
            <a:ext cx="7635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1A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removal — kept natural distribution for unbiased analysis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0" y="4983480"/>
            <a:ext cx="9144000" cy="16002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s-US"/>
          </a:p>
        </p:txBody>
      </p:sp>
      <p:sp>
        <p:nvSpPr>
          <p:cNvPr id="31" name="Text 29"/>
          <p:cNvSpPr/>
          <p:nvPr/>
        </p:nvSpPr>
        <p:spPr>
          <a:xfrm>
            <a:off x="182880" y="4974336"/>
            <a:ext cx="8778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900" dirty="0">
                <a:solidFill>
                  <a:srgbClr val="9DD9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E-Commerce Churn Analysis 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65A8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914400"/>
            <a:ext cx="3657600" cy="3657600"/>
          </a:xfrm>
          <a:prstGeom prst="ellipse">
            <a:avLst/>
          </a:prstGeom>
          <a:solidFill>
            <a:srgbClr val="1C7293">
              <a:alpha val="30000"/>
            </a:srgbClr>
          </a:solidFill>
          <a:ln w="12700">
            <a:solidFill>
              <a:srgbClr val="1C7293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s-US"/>
          </a:p>
        </p:txBody>
      </p:sp>
      <p:sp>
        <p:nvSpPr>
          <p:cNvPr id="3" name="Text 1"/>
          <p:cNvSpPr/>
          <p:nvPr/>
        </p:nvSpPr>
        <p:spPr>
          <a:xfrm>
            <a:off x="365760" y="201168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 Business Questions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365760" y="914400"/>
            <a:ext cx="4114800" cy="36576"/>
          </a:xfrm>
          <a:prstGeom prst="rect">
            <a:avLst/>
          </a:prstGeom>
          <a:solidFill>
            <a:srgbClr val="0ACDFF"/>
          </a:solidFill>
          <a:ln w="12700">
            <a:solidFill>
              <a:srgbClr val="0ACDFF"/>
            </a:solidFill>
            <a:prstDash val="solid"/>
          </a:ln>
        </p:spPr>
        <p:txBody>
          <a:bodyPr/>
          <a:lstStyle/>
          <a:p>
            <a:endParaRPr lang="es-US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40233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9DD9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Overall churn rate</a:t>
            </a:r>
            <a:endParaRPr lang="en-US" sz="15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9DD9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Churn by country</a:t>
            </a:r>
            <a:endParaRPr lang="en-US" sz="15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9DD9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Cart abandonment vs churn</a:t>
            </a:r>
            <a:endParaRPr lang="en-US" sz="15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9DD9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Membership seniority vs churn</a:t>
            </a:r>
            <a:endParaRPr lang="en-US" sz="15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9DD9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Order value: churned vs active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754880" y="1097280"/>
            <a:ext cx="40233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9DD9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 Customer service calls vs churn</a:t>
            </a:r>
            <a:endParaRPr lang="en-US" sz="15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9DD9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 Discount usage vs churn</a:t>
            </a:r>
            <a:endParaRPr lang="en-US" sz="15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9DD9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 Login frequency vs churn</a:t>
            </a:r>
            <a:endParaRPr lang="en-US" sz="15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9DD9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  Signup quarter vs churn</a:t>
            </a:r>
            <a:endParaRPr lang="en-US" sz="15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9DD9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 At-risk high-value customers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572000" y="1097280"/>
            <a:ext cx="36576" cy="347472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s-US"/>
          </a:p>
        </p:txBody>
      </p:sp>
      <p:sp>
        <p:nvSpPr>
          <p:cNvPr id="8" name="Shape 6"/>
          <p:cNvSpPr/>
          <p:nvPr/>
        </p:nvSpPr>
        <p:spPr>
          <a:xfrm>
            <a:off x="0" y="4983480"/>
            <a:ext cx="9144000" cy="160020"/>
          </a:xfrm>
          <a:prstGeom prst="rect">
            <a:avLst/>
          </a:prstGeom>
          <a:solidFill>
            <a:srgbClr val="21295C"/>
          </a:solidFill>
          <a:ln w="12700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s-US"/>
          </a:p>
        </p:txBody>
      </p:sp>
      <p:sp>
        <p:nvSpPr>
          <p:cNvPr id="9" name="Text 7"/>
          <p:cNvSpPr/>
          <p:nvPr/>
        </p:nvSpPr>
        <p:spPr>
          <a:xfrm>
            <a:off x="182880" y="4974336"/>
            <a:ext cx="8778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900" dirty="0">
                <a:solidFill>
                  <a:srgbClr val="9DD9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E-Commerce Churn Analysis 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s-US"/>
          </a:p>
        </p:txBody>
      </p:sp>
      <p:sp>
        <p:nvSpPr>
          <p:cNvPr id="3" name="Shape 1"/>
          <p:cNvSpPr/>
          <p:nvPr/>
        </p:nvSpPr>
        <p:spPr>
          <a:xfrm>
            <a:off x="73152" y="0"/>
            <a:ext cx="9070848" cy="84124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s-US"/>
          </a:p>
        </p:txBody>
      </p:sp>
      <p:sp>
        <p:nvSpPr>
          <p:cNvPr id="4" name="Text 2"/>
          <p:cNvSpPr/>
          <p:nvPr/>
        </p:nvSpPr>
        <p:spPr>
          <a:xfrm>
            <a:off x="320040" y="91440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Q1: What is the Overall Churn Rate?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320040" y="960120"/>
            <a:ext cx="2377440" cy="2834640"/>
          </a:xfrm>
          <a:prstGeom prst="rect">
            <a:avLst/>
          </a:prstGeom>
          <a:solidFill>
            <a:srgbClr val="21295C"/>
          </a:solidFill>
          <a:ln w="25400">
            <a:solidFill>
              <a:srgbClr val="065A82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US"/>
          </a:p>
        </p:txBody>
      </p:sp>
      <p:sp>
        <p:nvSpPr>
          <p:cNvPr id="6" name="Text 4"/>
          <p:cNvSpPr/>
          <p:nvPr/>
        </p:nvSpPr>
        <p:spPr>
          <a:xfrm>
            <a:off x="320040" y="1234440"/>
            <a:ext cx="2377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600" b="1" dirty="0">
                <a:solidFill>
                  <a:srgbClr val="0ACD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~50%</a:t>
            </a:r>
            <a:endParaRPr lang="en-US" sz="5600" dirty="0"/>
          </a:p>
        </p:txBody>
      </p:sp>
      <p:sp>
        <p:nvSpPr>
          <p:cNvPr id="7" name="Text 5"/>
          <p:cNvSpPr/>
          <p:nvPr/>
        </p:nvSpPr>
        <p:spPr>
          <a:xfrm>
            <a:off x="320040" y="251460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9DD9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dirty="0">
                <a:solidFill>
                  <a:srgbClr val="9DD9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churned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926080" y="960120"/>
            <a:ext cx="5897880" cy="2286000"/>
          </a:xfrm>
          <a:prstGeom prst="rect">
            <a:avLst/>
          </a:prstGeom>
          <a:solidFill>
            <a:srgbClr val="0D1B2A"/>
          </a:solidFill>
          <a:ln w="12700">
            <a:solidFill>
              <a:srgbClr val="1A3A5C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US"/>
          </a:p>
        </p:txBody>
      </p:sp>
      <p:sp>
        <p:nvSpPr>
          <p:cNvPr id="9" name="Text 7"/>
          <p:cNvSpPr/>
          <p:nvPr/>
        </p:nvSpPr>
        <p:spPr>
          <a:xfrm>
            <a:off x="8321040" y="100584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ACD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108960" y="1115568"/>
            <a:ext cx="5577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ROUND(SUM(Churned)*100.0/COUNT(*),2)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AS churn_rate_pct,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SUM(Churned)          AS total_churned,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COUNT(*)-SUM(Churned) AS total_active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customers;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20040" y="3547872"/>
            <a:ext cx="8503920" cy="749808"/>
          </a:xfrm>
          <a:prstGeom prst="rect">
            <a:avLst/>
          </a:prstGeom>
          <a:solidFill>
            <a:srgbClr val="EBF5FB"/>
          </a:solidFill>
          <a:ln w="1905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s-US"/>
          </a:p>
        </p:txBody>
      </p:sp>
      <p:sp>
        <p:nvSpPr>
          <p:cNvPr id="12" name="Shape 10"/>
          <p:cNvSpPr/>
          <p:nvPr/>
        </p:nvSpPr>
        <p:spPr>
          <a:xfrm>
            <a:off x="320040" y="3547872"/>
            <a:ext cx="64008" cy="749808"/>
          </a:xfrm>
          <a:prstGeom prst="rect">
            <a:avLst/>
          </a:prstGeom>
          <a:solidFill>
            <a:srgbClr val="0ACDFF"/>
          </a:solidFill>
          <a:ln w="12700">
            <a:solidFill>
              <a:srgbClr val="0ACDFF"/>
            </a:solidFill>
            <a:prstDash val="solid"/>
          </a:ln>
        </p:spPr>
        <p:txBody>
          <a:bodyPr/>
          <a:lstStyle/>
          <a:p>
            <a:endParaRPr lang="es-US"/>
          </a:p>
        </p:txBody>
      </p:sp>
      <p:sp>
        <p:nvSpPr>
          <p:cNvPr id="13" name="Text 11"/>
          <p:cNvSpPr/>
          <p:nvPr/>
        </p:nvSpPr>
        <p:spPr>
          <a:xfrm>
            <a:off x="548640" y="3639312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1A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Balanced dataset — ideal for unbiased churn modeling and analysis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0" y="4983480"/>
            <a:ext cx="9144000" cy="16002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s-US"/>
          </a:p>
        </p:txBody>
      </p:sp>
      <p:sp>
        <p:nvSpPr>
          <p:cNvPr id="15" name="Text 13"/>
          <p:cNvSpPr/>
          <p:nvPr/>
        </p:nvSpPr>
        <p:spPr>
          <a:xfrm>
            <a:off x="182880" y="4974336"/>
            <a:ext cx="8778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900" dirty="0">
                <a:solidFill>
                  <a:srgbClr val="9DD9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E-Commerce Churn Analysis 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s-US"/>
          </a:p>
        </p:txBody>
      </p:sp>
      <p:sp>
        <p:nvSpPr>
          <p:cNvPr id="3" name="Shape 1"/>
          <p:cNvSpPr/>
          <p:nvPr/>
        </p:nvSpPr>
        <p:spPr>
          <a:xfrm>
            <a:off x="73152" y="0"/>
            <a:ext cx="9070848" cy="84124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s-US"/>
          </a:p>
        </p:txBody>
      </p:sp>
      <p:sp>
        <p:nvSpPr>
          <p:cNvPr id="4" name="Text 2"/>
          <p:cNvSpPr/>
          <p:nvPr/>
        </p:nvSpPr>
        <p:spPr>
          <a:xfrm>
            <a:off x="320040" y="91440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Q2: Churn Rate by Country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320040" y="914400"/>
            <a:ext cx="8503920" cy="2103120"/>
          </a:xfrm>
          <a:prstGeom prst="rect">
            <a:avLst/>
          </a:prstGeom>
          <a:solidFill>
            <a:srgbClr val="0D1B2A"/>
          </a:solidFill>
          <a:ln w="12700">
            <a:solidFill>
              <a:srgbClr val="1A3A5C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US"/>
          </a:p>
        </p:txBody>
      </p:sp>
      <p:sp>
        <p:nvSpPr>
          <p:cNvPr id="6" name="Text 4"/>
          <p:cNvSpPr/>
          <p:nvPr/>
        </p:nvSpPr>
        <p:spPr>
          <a:xfrm>
            <a:off x="8366760" y="96012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ACD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02920" y="1051560"/>
            <a:ext cx="8138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Country,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COUNT(*) AS total,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ROUND(SUM(Churned)*100.0/COUNT(*),2)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AS churn_rate_pct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customers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 BY Country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 churn_rate_pct DESC;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0040" y="3182112"/>
            <a:ext cx="8503920" cy="749808"/>
          </a:xfrm>
          <a:prstGeom prst="rect">
            <a:avLst/>
          </a:prstGeom>
          <a:solidFill>
            <a:srgbClr val="EBF5FB"/>
          </a:solidFill>
          <a:ln w="1905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s-US"/>
          </a:p>
        </p:txBody>
      </p:sp>
      <p:sp>
        <p:nvSpPr>
          <p:cNvPr id="9" name="Shape 7"/>
          <p:cNvSpPr/>
          <p:nvPr/>
        </p:nvSpPr>
        <p:spPr>
          <a:xfrm>
            <a:off x="320040" y="3182112"/>
            <a:ext cx="64008" cy="749808"/>
          </a:xfrm>
          <a:prstGeom prst="rect">
            <a:avLst/>
          </a:prstGeom>
          <a:solidFill>
            <a:srgbClr val="0ACDFF"/>
          </a:solidFill>
          <a:ln w="12700">
            <a:solidFill>
              <a:srgbClr val="0ACDFF"/>
            </a:solidFill>
            <a:prstDash val="solid"/>
          </a:ln>
        </p:spPr>
        <p:txBody>
          <a:bodyPr/>
          <a:lstStyle/>
          <a:p>
            <a:endParaRPr lang="es-US"/>
          </a:p>
        </p:txBody>
      </p:sp>
      <p:sp>
        <p:nvSpPr>
          <p:cNvPr id="10" name="Text 8"/>
          <p:cNvSpPr/>
          <p:nvPr/>
        </p:nvSpPr>
        <p:spPr>
          <a:xfrm>
            <a:off x="548640" y="3273552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1A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Churn rates vary across countries — some markets need more retention investment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0" y="4983480"/>
            <a:ext cx="9144000" cy="16002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s-US"/>
          </a:p>
        </p:txBody>
      </p:sp>
      <p:sp>
        <p:nvSpPr>
          <p:cNvPr id="12" name="Text 10"/>
          <p:cNvSpPr/>
          <p:nvPr/>
        </p:nvSpPr>
        <p:spPr>
          <a:xfrm>
            <a:off x="182880" y="4974336"/>
            <a:ext cx="8778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900" dirty="0">
                <a:solidFill>
                  <a:srgbClr val="9DD9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E-Commerce Churn Analysis 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s-US"/>
          </a:p>
        </p:txBody>
      </p:sp>
      <p:sp>
        <p:nvSpPr>
          <p:cNvPr id="3" name="Shape 1"/>
          <p:cNvSpPr/>
          <p:nvPr/>
        </p:nvSpPr>
        <p:spPr>
          <a:xfrm>
            <a:off x="73152" y="0"/>
            <a:ext cx="9070848" cy="84124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s-US"/>
          </a:p>
        </p:txBody>
      </p:sp>
      <p:sp>
        <p:nvSpPr>
          <p:cNvPr id="4" name="Text 2"/>
          <p:cNvSpPr/>
          <p:nvPr/>
        </p:nvSpPr>
        <p:spPr>
          <a:xfrm>
            <a:off x="320040" y="91440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Q3: Cart Abandonment vs Churn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320040" y="914400"/>
            <a:ext cx="8503920" cy="2103120"/>
          </a:xfrm>
          <a:prstGeom prst="rect">
            <a:avLst/>
          </a:prstGeom>
          <a:solidFill>
            <a:srgbClr val="0D1B2A"/>
          </a:solidFill>
          <a:ln w="12700">
            <a:solidFill>
              <a:srgbClr val="1A3A5C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US"/>
          </a:p>
        </p:txBody>
      </p:sp>
      <p:sp>
        <p:nvSpPr>
          <p:cNvPr id="6" name="Text 4"/>
          <p:cNvSpPr/>
          <p:nvPr/>
        </p:nvSpPr>
        <p:spPr>
          <a:xfrm>
            <a:off x="8366760" y="96012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ACD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02920" y="1051560"/>
            <a:ext cx="8138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CASE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WHEN Cart_Abandonment_Rate &lt; 25 THEN 'Low'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WHEN Cart_Abandonment_Rate &lt; 50 THEN 'Medium'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WHEN Cart_Abandonment_Rate &lt; 75 THEN 'High'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ELSE 'Very High'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END AS abandonment_group,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ROUND(SUM(Churned)*100.0/COUNT(*),2) AS churn_rate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customers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 BY abandonment_group;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0040" y="3182112"/>
            <a:ext cx="8503920" cy="749808"/>
          </a:xfrm>
          <a:prstGeom prst="rect">
            <a:avLst/>
          </a:prstGeom>
          <a:solidFill>
            <a:srgbClr val="EBF5FB"/>
          </a:solidFill>
          <a:ln w="1905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s-US"/>
          </a:p>
        </p:txBody>
      </p:sp>
      <p:sp>
        <p:nvSpPr>
          <p:cNvPr id="9" name="Shape 7"/>
          <p:cNvSpPr/>
          <p:nvPr/>
        </p:nvSpPr>
        <p:spPr>
          <a:xfrm>
            <a:off x="320040" y="3182112"/>
            <a:ext cx="64008" cy="749808"/>
          </a:xfrm>
          <a:prstGeom prst="rect">
            <a:avLst/>
          </a:prstGeom>
          <a:solidFill>
            <a:srgbClr val="0ACDFF"/>
          </a:solidFill>
          <a:ln w="12700">
            <a:solidFill>
              <a:srgbClr val="0ACDFF"/>
            </a:solidFill>
            <a:prstDash val="solid"/>
          </a:ln>
        </p:spPr>
        <p:txBody>
          <a:bodyPr/>
          <a:lstStyle/>
          <a:p>
            <a:endParaRPr lang="es-US"/>
          </a:p>
        </p:txBody>
      </p:sp>
      <p:sp>
        <p:nvSpPr>
          <p:cNvPr id="10" name="Text 8"/>
          <p:cNvSpPr/>
          <p:nvPr/>
        </p:nvSpPr>
        <p:spPr>
          <a:xfrm>
            <a:off x="548640" y="3273552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1A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high cart abandonment (&gt;75%) strongly correlates with churn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0" y="4983480"/>
            <a:ext cx="9144000" cy="16002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s-US"/>
          </a:p>
        </p:txBody>
      </p:sp>
      <p:sp>
        <p:nvSpPr>
          <p:cNvPr id="12" name="Text 10"/>
          <p:cNvSpPr/>
          <p:nvPr/>
        </p:nvSpPr>
        <p:spPr>
          <a:xfrm>
            <a:off x="182880" y="4974336"/>
            <a:ext cx="8778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900" dirty="0">
                <a:solidFill>
                  <a:srgbClr val="9DD9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E-Commerce Churn Analysis 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s-US"/>
          </a:p>
        </p:txBody>
      </p:sp>
      <p:sp>
        <p:nvSpPr>
          <p:cNvPr id="3" name="Shape 1"/>
          <p:cNvSpPr/>
          <p:nvPr/>
        </p:nvSpPr>
        <p:spPr>
          <a:xfrm>
            <a:off x="73152" y="0"/>
            <a:ext cx="9070848" cy="84124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s-US"/>
          </a:p>
        </p:txBody>
      </p:sp>
      <p:sp>
        <p:nvSpPr>
          <p:cNvPr id="4" name="Text 2"/>
          <p:cNvSpPr/>
          <p:nvPr/>
        </p:nvSpPr>
        <p:spPr>
          <a:xfrm>
            <a:off x="320040" y="91440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Q6: Customer Service Calls vs Churn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320040" y="914400"/>
            <a:ext cx="8503920" cy="2103120"/>
          </a:xfrm>
          <a:prstGeom prst="rect">
            <a:avLst/>
          </a:prstGeom>
          <a:solidFill>
            <a:srgbClr val="0D1B2A"/>
          </a:solidFill>
          <a:ln w="12700">
            <a:solidFill>
              <a:srgbClr val="1A3A5C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US"/>
          </a:p>
        </p:txBody>
      </p:sp>
      <p:sp>
        <p:nvSpPr>
          <p:cNvPr id="6" name="Text 4"/>
          <p:cNvSpPr/>
          <p:nvPr/>
        </p:nvSpPr>
        <p:spPr>
          <a:xfrm>
            <a:off x="8366760" y="96012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ACD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02920" y="1051560"/>
            <a:ext cx="8138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CAST(Customer_Service_Calls AS INT) AS calls,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ROUND(SUM(Churned)*100.0/COUNT(*),2)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AS churn_rate_pct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customers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 BY calls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 calls;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0040" y="3182112"/>
            <a:ext cx="8503920" cy="749808"/>
          </a:xfrm>
          <a:prstGeom prst="rect">
            <a:avLst/>
          </a:prstGeom>
          <a:solidFill>
            <a:srgbClr val="EBF5FB"/>
          </a:solidFill>
          <a:ln w="1905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s-US"/>
          </a:p>
        </p:txBody>
      </p:sp>
      <p:sp>
        <p:nvSpPr>
          <p:cNvPr id="9" name="Shape 7"/>
          <p:cNvSpPr/>
          <p:nvPr/>
        </p:nvSpPr>
        <p:spPr>
          <a:xfrm>
            <a:off x="320040" y="3182112"/>
            <a:ext cx="64008" cy="749808"/>
          </a:xfrm>
          <a:prstGeom prst="rect">
            <a:avLst/>
          </a:prstGeom>
          <a:solidFill>
            <a:srgbClr val="0ACDFF"/>
          </a:solidFill>
          <a:ln w="12700">
            <a:solidFill>
              <a:srgbClr val="0ACDFF"/>
            </a:solidFill>
            <a:prstDash val="solid"/>
          </a:ln>
        </p:spPr>
        <p:txBody>
          <a:bodyPr/>
          <a:lstStyle/>
          <a:p>
            <a:endParaRPr lang="es-US"/>
          </a:p>
        </p:txBody>
      </p:sp>
      <p:sp>
        <p:nvSpPr>
          <p:cNvPr id="10" name="Text 8"/>
          <p:cNvSpPr/>
          <p:nvPr/>
        </p:nvSpPr>
        <p:spPr>
          <a:xfrm>
            <a:off x="548640" y="3273552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1A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 with 8+ service calls show dramatically higher churn — key early warning signal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0" y="4983480"/>
            <a:ext cx="9144000" cy="16002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s-US"/>
          </a:p>
        </p:txBody>
      </p:sp>
      <p:sp>
        <p:nvSpPr>
          <p:cNvPr id="12" name="Text 10"/>
          <p:cNvSpPr/>
          <p:nvPr/>
        </p:nvSpPr>
        <p:spPr>
          <a:xfrm>
            <a:off x="182880" y="4974336"/>
            <a:ext cx="8778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900" dirty="0">
                <a:solidFill>
                  <a:srgbClr val="9DD9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E-Commerce Churn Analysis 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s-US"/>
          </a:p>
        </p:txBody>
      </p:sp>
      <p:sp>
        <p:nvSpPr>
          <p:cNvPr id="3" name="Shape 1"/>
          <p:cNvSpPr/>
          <p:nvPr/>
        </p:nvSpPr>
        <p:spPr>
          <a:xfrm>
            <a:off x="73152" y="0"/>
            <a:ext cx="9070848" cy="84124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s-US"/>
          </a:p>
        </p:txBody>
      </p:sp>
      <p:sp>
        <p:nvSpPr>
          <p:cNvPr id="4" name="Text 2"/>
          <p:cNvSpPr/>
          <p:nvPr/>
        </p:nvSpPr>
        <p:spPr>
          <a:xfrm>
            <a:off x="320040" y="91440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Q10: High-Value Customers at Churn Risk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320040" y="914400"/>
            <a:ext cx="8503920" cy="2103120"/>
          </a:xfrm>
          <a:prstGeom prst="rect">
            <a:avLst/>
          </a:prstGeom>
          <a:solidFill>
            <a:srgbClr val="0D1B2A"/>
          </a:solidFill>
          <a:ln w="12700">
            <a:solidFill>
              <a:srgbClr val="1A3A5C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US"/>
          </a:p>
        </p:txBody>
      </p:sp>
      <p:sp>
        <p:nvSpPr>
          <p:cNvPr id="6" name="Text 4"/>
          <p:cNvSpPr/>
          <p:nvPr/>
        </p:nvSpPr>
        <p:spPr>
          <a:xfrm>
            <a:off x="8366760" y="96012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ACD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02920" y="1051560"/>
            <a:ext cx="8138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customer_id, Country, Lifetime_Value,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Customer_Service_Calls,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Cart_Abandonment_Rate,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Days_Since_Last_Purchase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customers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Churned = 0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AND Days_Since_Last_Purchase &gt; 60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AND Customer_Service_Calls &gt;= 5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AND Cart_Abandonment_Rate &gt; 60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 Lifetime_Value DESC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A8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LIMIT 10;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0040" y="3182112"/>
            <a:ext cx="8503920" cy="749808"/>
          </a:xfrm>
          <a:prstGeom prst="rect">
            <a:avLst/>
          </a:prstGeom>
          <a:solidFill>
            <a:srgbClr val="EBF5FB"/>
          </a:solidFill>
          <a:ln w="1905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s-US"/>
          </a:p>
        </p:txBody>
      </p:sp>
      <p:sp>
        <p:nvSpPr>
          <p:cNvPr id="9" name="Shape 7"/>
          <p:cNvSpPr/>
          <p:nvPr/>
        </p:nvSpPr>
        <p:spPr>
          <a:xfrm>
            <a:off x="320040" y="3182112"/>
            <a:ext cx="64008" cy="749808"/>
          </a:xfrm>
          <a:prstGeom prst="rect">
            <a:avLst/>
          </a:prstGeom>
          <a:solidFill>
            <a:srgbClr val="0ACDFF"/>
          </a:solidFill>
          <a:ln w="12700">
            <a:solidFill>
              <a:srgbClr val="0ACDFF"/>
            </a:solidFill>
            <a:prstDash val="solid"/>
          </a:ln>
        </p:spPr>
        <p:txBody>
          <a:bodyPr/>
          <a:lstStyle/>
          <a:p>
            <a:endParaRPr lang="es-US"/>
          </a:p>
        </p:txBody>
      </p:sp>
      <p:sp>
        <p:nvSpPr>
          <p:cNvPr id="10" name="Text 8"/>
          <p:cNvSpPr/>
          <p:nvPr/>
        </p:nvSpPr>
        <p:spPr>
          <a:xfrm>
            <a:off x="548640" y="3273552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1A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Actionable list of high-LTV customers for priority retention campaigns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0" y="4983480"/>
            <a:ext cx="9144000" cy="16002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s-US"/>
          </a:p>
        </p:txBody>
      </p:sp>
      <p:sp>
        <p:nvSpPr>
          <p:cNvPr id="12" name="Text 10"/>
          <p:cNvSpPr/>
          <p:nvPr/>
        </p:nvSpPr>
        <p:spPr>
          <a:xfrm>
            <a:off x="182880" y="4974336"/>
            <a:ext cx="8778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900" dirty="0">
                <a:solidFill>
                  <a:srgbClr val="9DD9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E-Commerce Churn Analysis 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457200" y="3200400"/>
            <a:ext cx="2743200" cy="2743200"/>
          </a:xfrm>
          <a:prstGeom prst="ellipse">
            <a:avLst/>
          </a:prstGeom>
          <a:solidFill>
            <a:srgbClr val="065A82">
              <a:alpha val="40000"/>
            </a:srgbClr>
          </a:solidFill>
          <a:ln w="12700">
            <a:solidFill>
              <a:srgbClr val="065A82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s-US"/>
          </a:p>
        </p:txBody>
      </p:sp>
      <p:sp>
        <p:nvSpPr>
          <p:cNvPr id="3" name="Shape 1"/>
          <p:cNvSpPr/>
          <p:nvPr/>
        </p:nvSpPr>
        <p:spPr>
          <a:xfrm>
            <a:off x="7315200" y="-457200"/>
            <a:ext cx="2286000" cy="2286000"/>
          </a:xfrm>
          <a:prstGeom prst="ellipse">
            <a:avLst/>
          </a:prstGeom>
          <a:solidFill>
            <a:srgbClr val="1C7293">
              <a:alpha val="35000"/>
            </a:srgbClr>
          </a:solidFill>
          <a:ln w="12700">
            <a:solidFill>
              <a:srgbClr val="1C7293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es-US"/>
          </a:p>
        </p:txBody>
      </p:sp>
      <p:sp>
        <p:nvSpPr>
          <p:cNvPr id="4" name="Text 2"/>
          <p:cNvSpPr/>
          <p:nvPr/>
        </p:nvSpPr>
        <p:spPr>
          <a:xfrm>
            <a:off x="365760" y="164592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Takeaways &amp; Recommendations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365760" y="914400"/>
            <a:ext cx="3840480" cy="36576"/>
          </a:xfrm>
          <a:prstGeom prst="rect">
            <a:avLst/>
          </a:prstGeom>
          <a:solidFill>
            <a:srgbClr val="0ACDFF"/>
          </a:solidFill>
          <a:ln w="12700">
            <a:solidFill>
              <a:srgbClr val="0ACDFF"/>
            </a:solidFill>
            <a:prstDash val="solid"/>
          </a:ln>
        </p:spPr>
        <p:txBody>
          <a:bodyPr/>
          <a:lstStyle/>
          <a:p>
            <a:endParaRPr lang="es-US"/>
          </a:p>
        </p:txBody>
      </p:sp>
      <p:sp>
        <p:nvSpPr>
          <p:cNvPr id="6" name="Shape 4"/>
          <p:cNvSpPr/>
          <p:nvPr/>
        </p:nvSpPr>
        <p:spPr>
          <a:xfrm>
            <a:off x="320040" y="1051560"/>
            <a:ext cx="3931920" cy="3566160"/>
          </a:xfrm>
          <a:prstGeom prst="rect">
            <a:avLst/>
          </a:prstGeom>
          <a:solidFill>
            <a:srgbClr val="065A82"/>
          </a:solidFill>
          <a:ln w="25400">
            <a:solidFill>
              <a:srgbClr val="E84855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US"/>
          </a:p>
        </p:txBody>
      </p:sp>
      <p:sp>
        <p:nvSpPr>
          <p:cNvPr id="7" name="Shape 5"/>
          <p:cNvSpPr/>
          <p:nvPr/>
        </p:nvSpPr>
        <p:spPr>
          <a:xfrm>
            <a:off x="320040" y="1051560"/>
            <a:ext cx="3931920" cy="457200"/>
          </a:xfrm>
          <a:prstGeom prst="rect">
            <a:avLst/>
          </a:prstGeom>
          <a:solidFill>
            <a:srgbClr val="E84855"/>
          </a:solidFill>
          <a:ln w="12700">
            <a:solidFill>
              <a:srgbClr val="E84855"/>
            </a:solidFill>
            <a:prstDash val="solid"/>
          </a:ln>
        </p:spPr>
        <p:txBody>
          <a:bodyPr/>
          <a:lstStyle/>
          <a:p>
            <a:endParaRPr lang="es-US"/>
          </a:p>
        </p:txBody>
      </p:sp>
      <p:sp>
        <p:nvSpPr>
          <p:cNvPr id="8" name="Text 6"/>
          <p:cNvSpPr/>
          <p:nvPr/>
        </p:nvSpPr>
        <p:spPr>
          <a:xfrm>
            <a:off x="411480" y="1078992"/>
            <a:ext cx="3749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⚠  Risk Signals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7200" y="1600200"/>
            <a:ext cx="3657600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9DD9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cart abandonment (&gt;75%)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9DD9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8+ customer service calls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9DD9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login frequency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9DD9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60+ days since last purchase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0" y="1051560"/>
            <a:ext cx="4206240" cy="3566160"/>
          </a:xfrm>
          <a:prstGeom prst="rect">
            <a:avLst/>
          </a:prstGeom>
          <a:solidFill>
            <a:srgbClr val="065A82"/>
          </a:solidFill>
          <a:ln w="25400">
            <a:solidFill>
              <a:srgbClr val="3BB273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US"/>
          </a:p>
        </p:txBody>
      </p:sp>
      <p:sp>
        <p:nvSpPr>
          <p:cNvPr id="11" name="Shape 9"/>
          <p:cNvSpPr/>
          <p:nvPr/>
        </p:nvSpPr>
        <p:spPr>
          <a:xfrm>
            <a:off x="4572000" y="1051560"/>
            <a:ext cx="4206240" cy="457200"/>
          </a:xfrm>
          <a:prstGeom prst="rect">
            <a:avLst/>
          </a:prstGeom>
          <a:solidFill>
            <a:srgbClr val="3BB273"/>
          </a:solidFill>
          <a:ln w="12700">
            <a:solidFill>
              <a:srgbClr val="3BB273"/>
            </a:solidFill>
            <a:prstDash val="solid"/>
          </a:ln>
        </p:spPr>
        <p:txBody>
          <a:bodyPr/>
          <a:lstStyle/>
          <a:p>
            <a:endParaRPr lang="es-US"/>
          </a:p>
        </p:txBody>
      </p:sp>
      <p:sp>
        <p:nvSpPr>
          <p:cNvPr id="12" name="Text 10"/>
          <p:cNvSpPr/>
          <p:nvPr/>
        </p:nvSpPr>
        <p:spPr>
          <a:xfrm>
            <a:off x="4663440" y="1078992"/>
            <a:ext cx="4023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  Recommendations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709160" y="1600200"/>
            <a:ext cx="3931920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9DD9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Re-engagement campaigns for inactive high-LTV customers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9DD9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 checkout UX to reduce cart abandonment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9DD9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 customers with 5+ service calls for proactive outreach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9DD9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 retention efforts on Q1 signups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0" y="4983480"/>
            <a:ext cx="9144000" cy="16002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s-US"/>
          </a:p>
        </p:txBody>
      </p:sp>
      <p:sp>
        <p:nvSpPr>
          <p:cNvPr id="15" name="Text 13"/>
          <p:cNvSpPr/>
          <p:nvPr/>
        </p:nvSpPr>
        <p:spPr>
          <a:xfrm>
            <a:off x="182880" y="4974336"/>
            <a:ext cx="8778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900" dirty="0">
                <a:solidFill>
                  <a:srgbClr val="9DD9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E-Commerce Churn Analysis 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65A8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65760" y="164592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Tools &amp; Stack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365760" y="877824"/>
            <a:ext cx="3200400" cy="36576"/>
          </a:xfrm>
          <a:prstGeom prst="rect">
            <a:avLst/>
          </a:prstGeom>
          <a:solidFill>
            <a:srgbClr val="0ACDFF"/>
          </a:solidFill>
          <a:ln w="12700">
            <a:solidFill>
              <a:srgbClr val="0ACDFF"/>
            </a:solidFill>
            <a:prstDash val="solid"/>
          </a:ln>
        </p:spPr>
        <p:txBody>
          <a:bodyPr/>
          <a:lstStyle/>
          <a:p>
            <a:endParaRPr lang="es-US"/>
          </a:p>
        </p:txBody>
      </p:sp>
      <p:sp>
        <p:nvSpPr>
          <p:cNvPr id="5" name="Shape 3"/>
          <p:cNvSpPr/>
          <p:nvPr/>
        </p:nvSpPr>
        <p:spPr>
          <a:xfrm>
            <a:off x="320040" y="1956816"/>
            <a:ext cx="2651760" cy="1508760"/>
          </a:xfrm>
          <a:prstGeom prst="rect">
            <a:avLst/>
          </a:prstGeom>
          <a:solidFill>
            <a:srgbClr val="21295C"/>
          </a:solidFill>
          <a:ln w="19050">
            <a:solidFill>
              <a:srgbClr val="1C7293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US"/>
          </a:p>
        </p:txBody>
      </p:sp>
      <p:sp>
        <p:nvSpPr>
          <p:cNvPr id="6" name="Shape 4"/>
          <p:cNvSpPr/>
          <p:nvPr/>
        </p:nvSpPr>
        <p:spPr>
          <a:xfrm>
            <a:off x="320040" y="1888236"/>
            <a:ext cx="2651760" cy="64008"/>
          </a:xfrm>
          <a:prstGeom prst="rect">
            <a:avLst/>
          </a:prstGeom>
          <a:solidFill>
            <a:srgbClr val="0ACDFF"/>
          </a:solidFill>
          <a:ln w="12700">
            <a:solidFill>
              <a:srgbClr val="0ACDFF"/>
            </a:solidFill>
            <a:prstDash val="solid"/>
          </a:ln>
        </p:spPr>
        <p:txBody>
          <a:bodyPr/>
          <a:lstStyle/>
          <a:p>
            <a:endParaRPr lang="es-US"/>
          </a:p>
        </p:txBody>
      </p:sp>
      <p:sp>
        <p:nvSpPr>
          <p:cNvPr id="7" name="Text 5"/>
          <p:cNvSpPr/>
          <p:nvPr/>
        </p:nvSpPr>
        <p:spPr>
          <a:xfrm>
            <a:off x="411480" y="2331720"/>
            <a:ext cx="2468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Python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11480" y="2601468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DD9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pandas, matplotlib, seaborn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154680" y="1924812"/>
            <a:ext cx="2651760" cy="1508760"/>
          </a:xfrm>
          <a:prstGeom prst="rect">
            <a:avLst/>
          </a:prstGeom>
          <a:solidFill>
            <a:srgbClr val="21295C"/>
          </a:solidFill>
          <a:ln w="19050">
            <a:solidFill>
              <a:srgbClr val="1C7293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US"/>
          </a:p>
        </p:txBody>
      </p:sp>
      <p:sp>
        <p:nvSpPr>
          <p:cNvPr id="10" name="Shape 8"/>
          <p:cNvSpPr/>
          <p:nvPr/>
        </p:nvSpPr>
        <p:spPr>
          <a:xfrm>
            <a:off x="3154680" y="1842516"/>
            <a:ext cx="2651760" cy="64008"/>
          </a:xfrm>
          <a:prstGeom prst="rect">
            <a:avLst/>
          </a:prstGeom>
          <a:solidFill>
            <a:srgbClr val="0ACDFF"/>
          </a:solidFill>
          <a:ln w="12700">
            <a:solidFill>
              <a:srgbClr val="0ACDFF"/>
            </a:solidFill>
            <a:prstDash val="solid"/>
          </a:ln>
        </p:spPr>
        <p:txBody>
          <a:bodyPr/>
          <a:lstStyle/>
          <a:p>
            <a:endParaRPr lang="es-US"/>
          </a:p>
        </p:txBody>
      </p:sp>
      <p:sp>
        <p:nvSpPr>
          <p:cNvPr id="11" name="Text 9"/>
          <p:cNvSpPr/>
          <p:nvPr/>
        </p:nvSpPr>
        <p:spPr>
          <a:xfrm>
            <a:off x="3291840" y="2325624"/>
            <a:ext cx="2468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SQLite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291840" y="256794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DD9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Relational DB for SQL queries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80760" y="1924812"/>
            <a:ext cx="2651760" cy="1508760"/>
          </a:xfrm>
          <a:prstGeom prst="rect">
            <a:avLst/>
          </a:prstGeom>
          <a:solidFill>
            <a:srgbClr val="21295C"/>
          </a:solidFill>
          <a:ln w="19050">
            <a:solidFill>
              <a:srgbClr val="1C7293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US"/>
          </a:p>
        </p:txBody>
      </p:sp>
      <p:sp>
        <p:nvSpPr>
          <p:cNvPr id="14" name="Shape 12"/>
          <p:cNvSpPr/>
          <p:nvPr/>
        </p:nvSpPr>
        <p:spPr>
          <a:xfrm>
            <a:off x="6080760" y="1856232"/>
            <a:ext cx="2651760" cy="64008"/>
          </a:xfrm>
          <a:prstGeom prst="rect">
            <a:avLst/>
          </a:prstGeom>
          <a:solidFill>
            <a:srgbClr val="0ACDFF"/>
          </a:solidFill>
          <a:ln w="12700">
            <a:solidFill>
              <a:srgbClr val="0ACDFF"/>
            </a:solidFill>
            <a:prstDash val="solid"/>
          </a:ln>
        </p:spPr>
        <p:txBody>
          <a:bodyPr/>
          <a:lstStyle/>
          <a:p>
            <a:endParaRPr lang="es-US"/>
          </a:p>
        </p:txBody>
      </p:sp>
      <p:sp>
        <p:nvSpPr>
          <p:cNvPr id="15" name="Text 13"/>
          <p:cNvSpPr/>
          <p:nvPr/>
        </p:nvSpPr>
        <p:spPr>
          <a:xfrm>
            <a:off x="6263640" y="2231136"/>
            <a:ext cx="2468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Jupyter</a:t>
            </a: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Notebook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263640" y="2616708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DD9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analysis workflow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0" y="4983480"/>
            <a:ext cx="9144000" cy="160020"/>
          </a:xfrm>
          <a:prstGeom prst="rect">
            <a:avLst/>
          </a:prstGeom>
          <a:solidFill>
            <a:srgbClr val="21295C"/>
          </a:solidFill>
          <a:ln w="12700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s-US" dirty="0"/>
          </a:p>
        </p:txBody>
      </p:sp>
      <p:sp>
        <p:nvSpPr>
          <p:cNvPr id="30" name="Text 28"/>
          <p:cNvSpPr/>
          <p:nvPr/>
        </p:nvSpPr>
        <p:spPr>
          <a:xfrm>
            <a:off x="182880" y="4974336"/>
            <a:ext cx="8778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DD9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E-Commerce Churn Analysis 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800</TotalTime>
  <Words>702</Words>
  <Application>Microsoft Macintosh PowerPoint</Application>
  <PresentationFormat>Presentación en pantalla (16:9)</PresentationFormat>
  <Paragraphs>146</Paragraphs>
  <Slides>11</Slides>
  <Notes>11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11</vt:i4>
      </vt:variant>
    </vt:vector>
  </HeadingPairs>
  <TitlesOfParts>
    <vt:vector size="16" baseType="lpstr">
      <vt:lpstr>Arial</vt:lpstr>
      <vt:lpstr>Calibri</vt:lpstr>
      <vt:lpstr>Courier New</vt:lpstr>
      <vt:lpstr>Trebuchet MS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E-Commerce Customer Churn Analysis</dc:title>
  <dc:subject>PptxGenJS Presentation</dc:subject>
  <dc:creator>Carlos Zambrano</dc:creator>
  <cp:lastModifiedBy>EDISON STEEVEN VERA HERRERA</cp:lastModifiedBy>
  <cp:revision>2</cp:revision>
  <dcterms:created xsi:type="dcterms:W3CDTF">2026-04-12T21:43:15Z</dcterms:created>
  <dcterms:modified xsi:type="dcterms:W3CDTF">2026-04-13T11:10:42Z</dcterms:modified>
</cp:coreProperties>
</file>